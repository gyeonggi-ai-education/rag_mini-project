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3d4c321-8a80-7c7e-2fd1-583d89af5304}">
          <p14:sldIdLst>
            <p14:sldId id="256"/>
          </p14:sldIdLst>
        </p14:section>
        <p14:section name="본론" id="{125b0e30-c011-ea3f-e113-b99e78c9a9c0}">
          <p14:sldIdLst>
            <p14:sldId id="257"/>
            <p14:sldId id="258"/>
            <p14:sldId id="259"/>
            <p14:sldId id="260"/>
          </p14:sldIdLst>
        </p14:section>
        <p14:section name="웹과 결과" id="{eee34034-7bd8-6317-c696-25a63c4e8651}">
          <p14:sldIdLst>
            <p14:sldId id="261"/>
            <p14:sldId id="262"/>
          </p14:sldIdLst>
        </p14:section>
        <p14:section name="마무리" id="{b698d0ec-ded6-57cd-86bf-c7ab50786f9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7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C6B77"/>
                </a:solidFill>
                <a:latin typeface="+mn-lt"/>
              </a:rPr>
              <a:t>골든셋 10문항 기준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정답 포함률 (Hit@5)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기본 검색</c:v>
                  </c:pt>
                  <c:pt idx="1">
                    <c:v>Rerank</c:v>
                  </c:pt>
                  <c:pt idx="2">
                    <c:v>Multi Query</c:v>
                  </c:pt>
                  <c:pt idx="3">
                    <c:v>MQ + Rerank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정답 순위 점수 (MRR)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기본 검색</c:v>
                  </c:pt>
                  <c:pt idx="1">
                    <c:v>Rerank</c:v>
                  </c:pt>
                  <c:pt idx="2">
                    <c:v>Multi Query</c:v>
                  </c:pt>
                  <c:pt idx="3">
                    <c:v>MQ + Rerank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</c:v>
                </c:pt>
                <c:pt idx="1">
                  <c:v>0.95</c:v>
                </c:pt>
                <c:pt idx="2">
                  <c:v>1</c:v>
                </c:pt>
                <c:pt idx="3">
                  <c:v>0.95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23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D9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저희는 인공지능 기본법을 잘 모르는 사람이 질문하면, 법 조문에서 근거를 찾아 쉬운 말로 답해주는 서비스를 만들었습니다. 오늘은 데이터를 어떻게 자르고, 검색을 어떻게 개선했고, 웹은 어떻게 돌아가고, 결과가 어땠는지 5분 안에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흐름입니다. 법률 PDF를 조문 단위로 자르고, 벡터 DB에 저장해 두었다가, 질문이 오면 관련 조문을 찾아 그 근거로만 답합니다. 노란색 두 단계, 청킹과 검색 개선이 오늘의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청킹입니다. 법은 조 단위로 뜻이 완결되기 때문에, 글자 수로 기계적으로 자르지 않고 한 조를 한 덩어리로 만들었습니다. 그 결과 46개 조문 덩어리가 나왔고 평균 570자 정도입니다. 원문을 고치지 않고 저장했고, 조 번호와 페이지 같은 출처 정보를 붙여서 답변에 정확한 조문을 보여줄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 Query입니다. 사용자는 'AI가 내 대출을 거절했다'처럼 일상어로 묻는데, 법은 '자동화된 결정의 설명'처럼 법률 용어로 쓰여 있어 검색이 어긋납니다. 그래서 AI가 질문을 법 용어 질의 세 개로 바꿔주고, 원래 질문까지 네 번 검색한 뒤 결과를 합칩니다. 여러 검색에서 공통으로 상위에 오른 조문이 위로 올라오는 방식, RRF입니다. 이 예시에서 기본 검색은 정답을 상위 5개에서 못 찾았지만 Multi Query는 1위로 찾았습니다.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Rerank입니다. 벡터 검색은 빠르지만 순서가 거칠 수 있습니다. 그래서 먼저 후보를 20개 넓게 가져오고, AI가 각 후보가 질문에 얼마나 도움이 되는지 0점에서 10점으로 채점해서 상위 5개만 남깁니다. 서류 전형 뒤에 면접을 보는 것과 같습니다. 정답이 상위 5개에 포함되는 비율이 90%에서 100%로 올랐지만, 질문당 3초 정도 걸리고 AI 호출 비용이 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 구조입니다. 사용자가 질문을 입력하면 FastAPI 서버의 /ask로 전달되고, 서버가 Multi Query와 Rerank를 거친 검색 결과를 만들어, 그 근거만으로 답변을 생성합니다. 화면은 탭 세 개입니다. 질문하기는 답과 근거 조문을 보여주고, 평가 결과는 검색 방식별 점수 비교, 데이터 뷰어는 저장된 조문을 직접 열어볼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결과입니다. 같은 10개 질문으로 네 가지 방식을 비교했습니다. 정답이 상위 5개에 들어오는 비율은 기본 검색이 90%, 나머지 세 방식은 100%입니다. 정답 순위까지 보는 MRR은 Multi Query가 가장 높은 1.0이었습니다. 다만 Rerank는 질문당 3초가 걸립니다. 10문항이라 작은 평가이고, Multi Query의 시간은 질의 확장 호출을 캐시해서 뺀 값이라는 점은 감안해 주세요. 웹의 평가 결과 탭에서 질문별로 각 방식이 어떤 조문을 가져왔는지도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청킹은 조문 단위로 해서 뜻과 출처를 지켰고, Multi Query는 일상어를 법 용어로 바꿔 놓치던 조문을 찾았고, Rerank는 정확도를 올렸지만 시간과 비용이 듭니다. 앞으로는 평가 질문을 늘려서 속도와 정확도의 균형을 맞추는 것이 과제입니다.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0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"/>
          <p:cNvSpPr/>
          <p:nvPr/>
        </p:nvSpPr>
        <p:spPr>
          <a:xfrm>
            <a:off x="6400800" y="640080"/>
            <a:ext cx="2377440" cy="23774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" name="scale icon" descr="법률 저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3258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RAG 미니 프로젝트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기본법,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물어보면 근거와 함께 답합니다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데이터 청킹  ·  Multi Query  ·  Rerank  ·  웹 서비스와 평가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질문 하나가 답이 되기까지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1463040"/>
            <a:ext cx="1481328" cy="22860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법률 PDF bg"/>
          <p:cNvSpPr/>
          <p:nvPr/>
        </p:nvSpPr>
        <p:spPr>
          <a:xfrm>
            <a:off x="877824" y="169164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5" name="icon 법률 PDF" descr="icon 법률 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14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법률 PDF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9260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AI 기본법 원문</a:t>
            </a:r>
            <a:endParaRPr lang="en-US" sz="1400" dirty="0"/>
          </a:p>
        </p:txBody>
      </p:sp>
      <p:pic>
        <p:nvPicPr>
          <p:cNvPr id="8" name="arrow 1" descr="다음 단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468880"/>
            <a:ext cx="146304" cy="146304"/>
          </a:xfrm>
          <a:prstGeom prst="rect">
            <a:avLst/>
          </a:prstGeom>
        </p:spPr>
      </p:pic>
      <p:sp>
        <p:nvSpPr>
          <p:cNvPr id="9" name="step card 2"/>
          <p:cNvSpPr/>
          <p:nvPr/>
        </p:nvSpPr>
        <p:spPr>
          <a:xfrm>
            <a:off x="2144268" y="1463040"/>
            <a:ext cx="1481328" cy="2286000"/>
          </a:xfrm>
          <a:prstGeom prst="roundRect">
            <a:avLst>
              <a:gd name="adj" fmla="val 61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 조문별 청킹 bg"/>
          <p:cNvSpPr/>
          <p:nvPr/>
        </p:nvSpPr>
        <p:spPr>
          <a:xfrm>
            <a:off x="2564892" y="1691640"/>
            <a:ext cx="640080" cy="640080"/>
          </a:xfrm>
          <a:prstGeom prst="ellipse">
            <a:avLst/>
          </a:prstGeom>
          <a:solidFill>
            <a:srgbClr val="0F3B4C"/>
          </a:solidFill>
          <a:ln w="12700">
            <a:solidFill>
              <a:srgbClr val="0F3B4C"/>
            </a:solidFill>
            <a:prstDash val="solid"/>
          </a:ln>
        </p:spPr>
      </p:sp>
      <p:pic>
        <p:nvPicPr>
          <p:cNvPr id="11" name="icon 조문별 청킹" descr="icon 조문별 청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18516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35708" y="2514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조문별 청킹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2253996" y="29260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조 단위로 나누기</a:t>
            </a:r>
            <a:endParaRPr lang="en-US" sz="1400" dirty="0"/>
          </a:p>
        </p:txBody>
      </p:sp>
      <p:pic>
        <p:nvPicPr>
          <p:cNvPr id="14" name="arrow 2" descr="다음 단계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2468880"/>
            <a:ext cx="146304" cy="146304"/>
          </a:xfrm>
          <a:prstGeom prst="rect">
            <a:avLst/>
          </a:prstGeom>
        </p:spPr>
      </p:pic>
      <p:sp>
        <p:nvSpPr>
          <p:cNvPr id="15" name="step card 3"/>
          <p:cNvSpPr/>
          <p:nvPr/>
        </p:nvSpPr>
        <p:spPr>
          <a:xfrm>
            <a:off x="3831336" y="1463040"/>
            <a:ext cx="1481328" cy="22860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벡터 DB 저장 bg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7" name="icon 벡터 DB 저장" descr="icon 벡터 DB 저장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85166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922776" y="2514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벡터 DB 저장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3941064" y="29260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의미를 숫자로 바꿔 Qdrant에</a:t>
            </a:r>
            <a:endParaRPr lang="en-US" sz="1400" dirty="0"/>
          </a:p>
        </p:txBody>
      </p:sp>
      <p:pic>
        <p:nvPicPr>
          <p:cNvPr id="20" name="arrow 3" descr="다음 단계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468880"/>
            <a:ext cx="146304" cy="146304"/>
          </a:xfrm>
          <a:prstGeom prst="rect">
            <a:avLst/>
          </a:prstGeom>
        </p:spPr>
      </p:pic>
      <p:sp>
        <p:nvSpPr>
          <p:cNvPr id="21" name="step card 4"/>
          <p:cNvSpPr/>
          <p:nvPr/>
        </p:nvSpPr>
        <p:spPr>
          <a:xfrm>
            <a:off x="5518404" y="1463040"/>
            <a:ext cx="1481328" cy="2286000"/>
          </a:xfrm>
          <a:prstGeom prst="roundRect">
            <a:avLst>
              <a:gd name="adj" fmla="val 61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con 검색 개선 bg"/>
          <p:cNvSpPr/>
          <p:nvPr/>
        </p:nvSpPr>
        <p:spPr>
          <a:xfrm>
            <a:off x="5939028" y="1691640"/>
            <a:ext cx="640080" cy="640080"/>
          </a:xfrm>
          <a:prstGeom prst="ellipse">
            <a:avLst/>
          </a:prstGeom>
          <a:solidFill>
            <a:srgbClr val="0F3B4C"/>
          </a:solidFill>
          <a:ln w="12700">
            <a:solidFill>
              <a:srgbClr val="0F3B4C"/>
            </a:solidFill>
            <a:prstDash val="solid"/>
          </a:ln>
        </p:spPr>
      </p:sp>
      <p:pic>
        <p:nvPicPr>
          <p:cNvPr id="23" name="icon 검색 개선" descr="icon 검색 개선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048" y="185166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609844" y="2514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검색 개선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5628132" y="29260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 Query + Rerank</a:t>
            </a:r>
            <a:endParaRPr lang="en-US" sz="1400" dirty="0"/>
          </a:p>
        </p:txBody>
      </p:sp>
      <p:pic>
        <p:nvPicPr>
          <p:cNvPr id="26" name="arrow 4" descr="다음 단계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6308" y="2468880"/>
            <a:ext cx="146304" cy="146304"/>
          </a:xfrm>
          <a:prstGeom prst="rect">
            <a:avLst/>
          </a:prstGeom>
        </p:spPr>
      </p:pic>
      <p:sp>
        <p:nvSpPr>
          <p:cNvPr id="27" name="step card 5"/>
          <p:cNvSpPr/>
          <p:nvPr/>
        </p:nvSpPr>
        <p:spPr>
          <a:xfrm>
            <a:off x="7205472" y="1463040"/>
            <a:ext cx="1481328" cy="22860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icon 답변과 출처 bg"/>
          <p:cNvSpPr/>
          <p:nvPr/>
        </p:nvSpPr>
        <p:spPr>
          <a:xfrm>
            <a:off x="7626096" y="169164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9" name="icon 답변과 출처" descr="icon 답변과 출처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6116" y="1851660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296912" y="2514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답변과 출처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7315200" y="29260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답 + 근거 조문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노란색 단계가 오늘 설명할 핵심입니다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청킹: 법의 단위인 '조(條)'로 나눴습니다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32588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46개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조문 청크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5720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약 570자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청크 평균 길이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57200" y="352044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1조 = 1청크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중간에 자르지 않음</a:t>
            </a:r>
            <a:endParaRPr lang="en-US" sz="1400" dirty="0"/>
          </a:p>
        </p:txBody>
      </p:sp>
      <p:sp>
        <p:nvSpPr>
          <p:cNvPr id="12" name="icon 조문이 곧 의미의 단위 bg"/>
          <p:cNvSpPr/>
          <p:nvPr/>
        </p:nvSpPr>
        <p:spPr>
          <a:xfrm>
            <a:off x="3749040" y="14630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3" name="icon 조문이 곧 의미의 단위" descr="icon 조문이 곧 의미의 단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60020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26280" y="1371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조문이 곧 의미의 단위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17099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글자 수로 자르면 한 조항이 반으로 쪼개집니다. 조 단위면 뜻이 온전합니다.</a:t>
            </a:r>
            <a:endParaRPr lang="en-US" sz="1400" dirty="0"/>
          </a:p>
        </p:txBody>
      </p:sp>
      <p:sp>
        <p:nvSpPr>
          <p:cNvPr id="16" name="icon 원문 그대로 저장 bg"/>
          <p:cNvSpPr/>
          <p:nvPr/>
        </p:nvSpPr>
        <p:spPr>
          <a:xfrm>
            <a:off x="3749040" y="256032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7" name="icon 원문 그대로 저장" descr="icon 원문 그대로 저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6974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26280" y="24688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원문 그대로 저장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28072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요약하거나 고치지 않아서, 답변의 근거로 그대로 보여줄 수 있습니다.</a:t>
            </a:r>
            <a:endParaRPr lang="en-US" sz="1400" dirty="0"/>
          </a:p>
        </p:txBody>
      </p:sp>
      <p:sp>
        <p:nvSpPr>
          <p:cNvPr id="20" name="icon 출처 정보 함께 보관 bg"/>
          <p:cNvSpPr/>
          <p:nvPr/>
        </p:nvSpPr>
        <p:spPr>
          <a:xfrm>
            <a:off x="3749040" y="365760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1" name="icon 출처 정보 함께 보관" descr="icon 출처 정보 함께 보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7947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26280" y="35661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출처 정보 함께 보관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526280" y="39044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조 번호·제목·페이지·법 버전을 붙여 '제34조'처럼 출처를 알려줍니다.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Multi Query: 법 용어로 바꿔 여러 번 찾기</a:t>
            </a:r>
            <a:endParaRPr lang="en-US" sz="28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280160"/>
            <a:ext cx="27432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사용자 질문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AI가 내 대출을 거절했는데 왜 그런 결정이 나왔는지 설명을 들을 수 있나요?</a:t>
            </a:r>
            <a:endParaRPr lang="en-US" sz="1400" dirty="0"/>
          </a:p>
        </p:txBody>
      </p:sp>
      <p:pic>
        <p:nvPicPr>
          <p:cNvPr id="6" name="arrow q" descr="확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205740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AI가 법 용어 질의로 확장</a:t>
            </a:r>
            <a:endParaRPr lang="en-US" sz="1400" dirty="0"/>
          </a:p>
        </p:txBody>
      </p:sp>
      <p:sp>
        <p:nvSpPr>
          <p:cNvPr id="8" name="expanded query 1"/>
          <p:cNvSpPr/>
          <p:nvPr/>
        </p:nvSpPr>
        <p:spPr>
          <a:xfrm>
            <a:off x="3657600" y="1645920"/>
            <a:ext cx="283464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749040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인공지능에 의한 자동화된 결정 설명 고지</a:t>
            </a:r>
            <a:endParaRPr lang="en-US" sz="1100" dirty="0"/>
          </a:p>
        </p:txBody>
      </p:sp>
      <p:sp>
        <p:nvSpPr>
          <p:cNvPr id="10" name="expanded query 2"/>
          <p:cNvSpPr/>
          <p:nvPr/>
        </p:nvSpPr>
        <p:spPr>
          <a:xfrm>
            <a:off x="3657600" y="2103120"/>
            <a:ext cx="283464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749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자동화된 결정에 대한 설명 요구</a:t>
            </a:r>
            <a:endParaRPr lang="en-US" sz="1100" dirty="0"/>
          </a:p>
        </p:txBody>
      </p:sp>
      <p:sp>
        <p:nvSpPr>
          <p:cNvPr id="12" name="expanded query 3"/>
          <p:cNvSpPr/>
          <p:nvPr/>
        </p:nvSpPr>
        <p:spPr>
          <a:xfrm>
            <a:off x="3657600" y="2560320"/>
            <a:ext cx="283464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749040" y="2624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인공지능이 내린 결정 이유 설명 의무</a:t>
            </a:r>
            <a:endParaRPr lang="en-US" sz="1100" dirty="0"/>
          </a:p>
        </p:txBody>
      </p:sp>
      <p:pic>
        <p:nvPicPr>
          <p:cNvPr id="14" name="arrow m" descr="병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57400"/>
            <a:ext cx="182880" cy="182880"/>
          </a:xfrm>
          <a:prstGeom prst="rect">
            <a:avLst/>
          </a:prstGeom>
        </p:spPr>
      </p:pic>
      <p:sp>
        <p:nvSpPr>
          <p:cNvPr id="15" name="merge card"/>
          <p:cNvSpPr/>
          <p:nvPr/>
        </p:nvSpPr>
        <p:spPr>
          <a:xfrm>
            <a:off x="6903720" y="1280160"/>
            <a:ext cx="1783080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99516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각각 검색 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RRF로 합치기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995160" y="21031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여러 검색에서 상위에 오른 조문을 위로</a:t>
            </a:r>
            <a:endParaRPr lang="en-US" sz="1200" dirty="0"/>
          </a:p>
        </p:txBody>
      </p:sp>
      <p:sp>
        <p:nvSpPr>
          <p:cNvPr id="18" name="result card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858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결과  (정답: 제3조, 제34조)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기본 검색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8288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상위 5개에서 못 찾음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</a:rPr>
              <a:t>Multi Query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85216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정답이 1위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Rerank: 넓게 찾고, AI가 다시 채점해 좁히기</a:t>
            </a:r>
            <a:endParaRPr lang="en-US" sz="2800" dirty="0"/>
          </a:p>
        </p:txBody>
      </p:sp>
      <p:sp>
        <p:nvSpPr>
          <p:cNvPr id="3" name="funnel 1"/>
          <p:cNvSpPr/>
          <p:nvPr/>
        </p:nvSpPr>
        <p:spPr>
          <a:xfrm>
            <a:off x="457200" y="1325880"/>
            <a:ext cx="274320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1단계  후보 20개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벡터 검색으로 넉넉하게 가져옴</a:t>
            </a:r>
            <a:endParaRPr lang="en-US" sz="1400" dirty="0"/>
          </a:p>
        </p:txBody>
      </p:sp>
      <p:sp>
        <p:nvSpPr>
          <p:cNvPr id="6" name="funnel 2"/>
          <p:cNvSpPr/>
          <p:nvPr/>
        </p:nvSpPr>
        <p:spPr>
          <a:xfrm>
            <a:off x="3200400" y="141732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3756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2단계  AI 채점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질문에 얼마나 도움이 되는지 0~10점</a:t>
            </a:r>
            <a:endParaRPr lang="en-US" sz="1400" dirty="0"/>
          </a:p>
        </p:txBody>
      </p:sp>
      <p:sp>
        <p:nvSpPr>
          <p:cNvPr id="9" name="funnel 3"/>
          <p:cNvSpPr/>
          <p:nvPr/>
        </p:nvSpPr>
        <p:spPr>
          <a:xfrm>
            <a:off x="5852160" y="1508760"/>
            <a:ext cx="1645920" cy="1645920"/>
          </a:xfrm>
          <a:prstGeom prst="roundRect">
            <a:avLst>
              <a:gd name="adj" fmla="val 5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8932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최종 5개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점수 높은 순</a:t>
            </a:r>
            <a:endParaRPr lang="en-US" sz="1400" dirty="0"/>
          </a:p>
        </p:txBody>
      </p:sp>
      <p:pic>
        <p:nvPicPr>
          <p:cNvPr id="12" name="arrow f1" descr="다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232" y="2240280"/>
            <a:ext cx="146304" cy="146304"/>
          </a:xfrm>
          <a:prstGeom prst="rect">
            <a:avLst/>
          </a:prstGeom>
        </p:spPr>
      </p:pic>
      <p:pic>
        <p:nvPicPr>
          <p:cNvPr id="13" name="arrow f2" descr="다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240280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서류 전형(벡터 검색)으로 넓게 뽑고, 면접(AI 채점)으로 정확하게 고르는 것과 같습니다</a:t>
            </a:r>
            <a:endParaRPr lang="en-US" sz="1400" dirty="0"/>
          </a:p>
        </p:txBody>
      </p:sp>
      <p:sp>
        <p:nvSpPr>
          <p:cNvPr id="15" name="gain card"/>
          <p:cNvSpPr/>
          <p:nvPr/>
        </p:nvSpPr>
        <p:spPr>
          <a:xfrm>
            <a:off x="457200" y="4023360"/>
            <a:ext cx="40233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4008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정확도  정답 포함률 90% → 100%</a:t>
            </a:r>
            <a:endParaRPr lang="en-US" sz="1400" dirty="0"/>
          </a:p>
        </p:txBody>
      </p:sp>
      <p:sp>
        <p:nvSpPr>
          <p:cNvPr id="17" name="cost card"/>
          <p:cNvSpPr/>
          <p:nvPr/>
        </p:nvSpPr>
        <p:spPr>
          <a:xfrm>
            <a:off x="4663440" y="4023360"/>
            <a:ext cx="40233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8463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비용  질문당 약 3초 · 약 7,500 토큰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웹은 이렇게 돌아갑니다</a:t>
            </a:r>
            <a:endParaRPr lang="en-US" sz="2800" dirty="0"/>
          </a:p>
        </p:txBody>
      </p:sp>
      <p:sp>
        <p:nvSpPr>
          <p:cNvPr id="3" name="web flow 1"/>
          <p:cNvSpPr/>
          <p:nvPr/>
        </p:nvSpPr>
        <p:spPr>
          <a:xfrm>
            <a:off x="457200" y="12801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브라우저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7"/>
                </a:solidFill>
              </a:rPr>
              <a:t>질문 입력</a:t>
            </a:r>
            <a:endParaRPr lang="en-US" sz="1200" dirty="0"/>
          </a:p>
        </p:txBody>
      </p:sp>
      <p:sp>
        <p:nvSpPr>
          <p:cNvPr id="6" name="web flow 2"/>
          <p:cNvSpPr/>
          <p:nvPr/>
        </p:nvSpPr>
        <p:spPr>
          <a:xfrm>
            <a:off x="2606040" y="12801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FastAPI 서버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7"/>
                </a:solidFill>
              </a:rPr>
              <a:t>POST /ask</a:t>
            </a:r>
            <a:endParaRPr lang="en-US" sz="1200" dirty="0"/>
          </a:p>
        </p:txBody>
      </p:sp>
      <p:sp>
        <p:nvSpPr>
          <p:cNvPr id="9" name="web flow 3"/>
          <p:cNvSpPr/>
          <p:nvPr/>
        </p:nvSpPr>
        <p:spPr>
          <a:xfrm>
            <a:off x="4754880" y="12801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검색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Multi Query + Rerank</a:t>
            </a:r>
            <a:endParaRPr lang="en-US" sz="1200" dirty="0"/>
          </a:p>
        </p:txBody>
      </p:sp>
      <p:sp>
        <p:nvSpPr>
          <p:cNvPr id="12" name="web flow 4"/>
          <p:cNvSpPr/>
          <p:nvPr/>
        </p:nvSpPr>
        <p:spPr>
          <a:xfrm>
            <a:off x="6903720" y="12801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9516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답변 생성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7"/>
                </a:solidFill>
              </a:rPr>
              <a:t>근거만 사용해 요약</a:t>
            </a:r>
            <a:endParaRPr lang="en-US" sz="1200" dirty="0"/>
          </a:p>
        </p:txBody>
      </p:sp>
      <p:pic>
        <p:nvPicPr>
          <p:cNvPr id="15" name="web arrow 1" descr="다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1645920"/>
            <a:ext cx="146304" cy="146304"/>
          </a:xfrm>
          <a:prstGeom prst="rect">
            <a:avLst/>
          </a:prstGeom>
        </p:spPr>
      </p:pic>
      <p:pic>
        <p:nvPicPr>
          <p:cNvPr id="16" name="web arrow 2" descr="다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645920"/>
            <a:ext cx="146304" cy="146304"/>
          </a:xfrm>
          <a:prstGeom prst="rect">
            <a:avLst/>
          </a:prstGeom>
        </p:spPr>
      </p:pic>
      <p:pic>
        <p:nvPicPr>
          <p:cNvPr id="17" name="web arrow 3" descr="다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645920"/>
            <a:ext cx="146304" cy="146304"/>
          </a:xfrm>
          <a:prstGeom prst="rect">
            <a:avLst/>
          </a:prstGeom>
        </p:spPr>
      </p:pic>
      <p:sp>
        <p:nvSpPr>
          <p:cNvPr id="18" name="tab card 1"/>
          <p:cNvSpPr/>
          <p:nvPr/>
        </p:nvSpPr>
        <p:spPr>
          <a:xfrm>
            <a:off x="457200" y="260604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질문하기 bg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0" name="icon 질문하기" descr="icon 질문하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질문하기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질문하면 쉬운 말 답변과 근거 조문을 함께 보여줍니다</a:t>
            </a:r>
            <a:endParaRPr lang="en-US" sz="1400" dirty="0"/>
          </a:p>
        </p:txBody>
      </p:sp>
      <p:sp>
        <p:nvSpPr>
          <p:cNvPr id="23" name="tab card 2"/>
          <p:cNvSpPr/>
          <p:nvPr/>
        </p:nvSpPr>
        <p:spPr>
          <a:xfrm>
            <a:off x="3246120" y="260604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평가 결과 bg"/>
          <p:cNvSpPr/>
          <p:nvPr/>
        </p:nvSpPr>
        <p:spPr>
          <a:xfrm>
            <a:off x="3429000" y="274320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5" name="icon 평가 결과" descr="icon 평가 결과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8803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평가 결과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 방식 4가지를 같은 문제로 비교한 점수를 보여줍니다</a:t>
            </a:r>
            <a:endParaRPr lang="en-US" sz="1400" dirty="0"/>
          </a:p>
        </p:txBody>
      </p:sp>
      <p:sp>
        <p:nvSpPr>
          <p:cNvPr id="28" name="tab card 3"/>
          <p:cNvSpPr/>
          <p:nvPr/>
        </p:nvSpPr>
        <p:spPr>
          <a:xfrm>
            <a:off x="6035040" y="260604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데이터 뷰어 bg"/>
          <p:cNvSpPr/>
          <p:nvPr/>
        </p:nvSpPr>
        <p:spPr>
          <a:xfrm>
            <a:off x="6217920" y="274320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0" name="icon 데이터 뷰어" descr="icon 데이터 뷰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803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데이터 뷰어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저장된 조문 청크를 직접 열어보고 비슷한 조문을 찾아봅니다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평가: 두 기법 모두 기본 검색보다 정확했습니다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con 정답 포함률 bg"/>
          <p:cNvSpPr/>
          <p:nvPr/>
        </p:nvSpPr>
        <p:spPr>
          <a:xfrm>
            <a:off x="5943600" y="132588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5" name="icon 정답 포함률" descr="icon 정답 포함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144018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3796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정답 포함률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537960" y="15727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기본 90%  →  개선 방식 모두 100%</a:t>
            </a:r>
            <a:endParaRPr lang="en-US" sz="1200" dirty="0"/>
          </a:p>
        </p:txBody>
      </p:sp>
      <p:sp>
        <p:nvSpPr>
          <p:cNvPr id="8" name="icon Multi Query bg"/>
          <p:cNvSpPr/>
          <p:nvPr/>
        </p:nvSpPr>
        <p:spPr>
          <a:xfrm>
            <a:off x="5943600" y="23774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9" name="icon Multi Query" descr="icon Multi Qu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49174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3796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Multi Query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537960" y="2624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일상어 질문 3개 중 정답 1위 3개 (기본은 0.5점)</a:t>
            </a:r>
            <a:endParaRPr lang="en-US" sz="1200" dirty="0"/>
          </a:p>
        </p:txBody>
      </p:sp>
      <p:sp>
        <p:nvSpPr>
          <p:cNvPr id="12" name="icon Rerank 비용 bg"/>
          <p:cNvSpPr/>
          <p:nvPr/>
        </p:nvSpPr>
        <p:spPr>
          <a:xfrm>
            <a:off x="5943600" y="342900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3" name="icon Rerank 비용" descr="icon Rerank 비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35433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53796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Rerank 비용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537960" y="367588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질문당 약 3초, 기본 검색은 0.003초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7"/>
                </a:solidFill>
              </a:rPr>
              <a:t>10문항 소규모 평가라 참고용입니다. Multi Query 시간은 질의 확장 호출을 제외한 값입니다.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정리</a:t>
            </a:r>
            <a:endParaRPr lang="en-US" sz="2800" dirty="0"/>
          </a:p>
        </p:txBody>
      </p:sp>
      <p:sp>
        <p:nvSpPr>
          <p:cNvPr id="3" name="icon 청킹 bg"/>
          <p:cNvSpPr/>
          <p:nvPr/>
        </p:nvSpPr>
        <p:spPr>
          <a:xfrm>
            <a:off x="457200" y="1280160"/>
            <a:ext cx="594360" cy="5943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4" name="icon 청킹" descr="icon 청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42875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청킹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12984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조문 단위로 나눠 뜻과 출처를 지켰다</a:t>
            </a:r>
            <a:endParaRPr lang="en-US" sz="1600" dirty="0"/>
          </a:p>
        </p:txBody>
      </p:sp>
      <p:sp>
        <p:nvSpPr>
          <p:cNvPr id="7" name="icon Multi Query bg"/>
          <p:cNvSpPr/>
          <p:nvPr/>
        </p:nvSpPr>
        <p:spPr>
          <a:xfrm>
            <a:off x="457200" y="2194560"/>
            <a:ext cx="594360" cy="5943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8" name="icon Multi Query" descr="icon Multi Que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3431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Multi Query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108960" y="22128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일상어를 법 용어로 바꿔 놓치던 조문을 찾았다</a:t>
            </a:r>
            <a:endParaRPr lang="en-US" sz="1600" dirty="0"/>
          </a:p>
        </p:txBody>
      </p:sp>
      <p:sp>
        <p:nvSpPr>
          <p:cNvPr id="11" name="icon Rerank bg"/>
          <p:cNvSpPr/>
          <p:nvPr/>
        </p:nvSpPr>
        <p:spPr>
          <a:xfrm>
            <a:off x="457200" y="3108960"/>
            <a:ext cx="594360" cy="5943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con Rerank" descr="icon Rera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25755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127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Rerank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108960" y="31272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 채점으로 정확도를 올렸지만 시간과 비용이 든다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다음 단계: 더 많은 질문으로 평가하고, 속도와 정확도의 균형을 맞추기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wRAG">
  <a:themeElements>
    <a:clrScheme name="LawRAG">
      <a:dk1>
        <a:srgbClr val="14232F"/>
      </a:dk1>
      <a:lt1>
        <a:srgbClr val="FFFFFF"/>
      </a:lt1>
      <a:dk2>
        <a:srgbClr val="0F3B4C"/>
      </a:dk2>
      <a:lt2>
        <a:srgbClr val="EEF3F5"/>
      </a:lt2>
      <a:accent1>
        <a:srgbClr val="E8A33D"/>
      </a:accent1>
      <a:accent2>
        <a:srgbClr val="1F7A8C"/>
      </a:accent2>
      <a:accent3>
        <a:srgbClr val="7FB7BE"/>
      </a:accent3>
      <a:accent4>
        <a:srgbClr val="C8553D"/>
      </a:accent4>
      <a:accent5>
        <a:srgbClr val="5C6B77"/>
      </a:accent5>
      <a:accent6>
        <a:srgbClr val="9BC1A5"/>
      </a:accent6>
      <a:hlink>
        <a:srgbClr val="1F7A8C"/>
      </a:hlink>
      <a:folHlink>
        <a:srgbClr val="5C6B77"/>
      </a:folHlink>
    </a:clrScheme>
    <a:fontScheme name="LawRA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기본법 RAG 발표</dc:title>
  <dc:subject>PptxGenJS Presentation</dc:subject>
  <dc:creator>PptxGenJS</dc:creator>
  <cp:lastModifiedBy>PptxGenJS</cp:lastModifiedBy>
  <cp:revision>1</cp:revision>
  <dcterms:created xsi:type="dcterms:W3CDTF">2026-10-08T07:05:53Z</dcterms:created>
  <dcterms:modified xsi:type="dcterms:W3CDTF">2026-10-08T07:05:53Z</dcterms:modified>
</cp:coreProperties>
</file>